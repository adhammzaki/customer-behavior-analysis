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Nunito Semi Bold"/>
      <p:regular r:id="rId18"/>
    </p:embeddedFont>
    <p:embeddedFont>
      <p:font typeface="Nunito Semi Bold"/>
      <p:regular r:id="rId19"/>
    </p:embeddedFont>
    <p:embeddedFont>
      <p:font typeface="Nunito Semi Bold"/>
      <p:regular r:id="rId20"/>
    </p:embeddedFont>
    <p:embeddedFont>
      <p:font typeface="Nunito Semi Bold"/>
      <p:regular r:id="rId21"/>
    </p:embeddedFont>
    <p:embeddedFont>
      <p:font typeface="PT Sans"/>
      <p:regular r:id="rId22"/>
    </p:embeddedFont>
    <p:embeddedFont>
      <p:font typeface="PT Sans"/>
      <p:regular r:id="rId23"/>
    </p:embeddedFont>
    <p:embeddedFont>
      <p:font typeface="PT Sans"/>
      <p:regular r:id="rId24"/>
    </p:embeddedFont>
    <p:embeddedFont>
      <p:font typeface="PT Sans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slideLayout" Target="../slideLayouts/slideLayout12.xml"/><Relationship Id="rId1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656761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Customer Shopping Behavior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423767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Uncovering spending patterns, customer segments, and product preferences from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3,900 transactions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 guide strategic business decisions.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5220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Dataset at a Glance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754630"/>
            <a:ext cx="41188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3,900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1488996" y="384357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7724" y="4339114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Total purchases analyzed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5255776" y="2754630"/>
            <a:ext cx="41188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18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907048" y="384357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55776" y="4339114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Columns per record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673828" y="2754630"/>
            <a:ext cx="41188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37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10325100" y="384357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3828" y="4339114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 Review Rating column only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37724" y="4991338"/>
            <a:ext cx="4158734" cy="1785938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9899" y="525351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Demographics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9899" y="5749052"/>
            <a:ext cx="363438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Age, Gender, Location, Subscription Status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5235773" y="4991338"/>
            <a:ext cx="4158734" cy="1785938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97949" y="525351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Purchase Details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97949" y="5749052"/>
            <a:ext cx="363438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Item, Category, Amount, Season, Size, Color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9633823" y="4991338"/>
            <a:ext cx="4158853" cy="1785938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95999" y="525351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Behavior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5999" y="5749052"/>
            <a:ext cx="363450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Discounts, Promo Codes, Frequency, Ratings, Shipping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874" y="654368"/>
            <a:ext cx="5889427" cy="594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Preparation in Python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706874" y="1504117"/>
            <a:ext cx="40386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06874" y="1824514"/>
            <a:ext cx="7730252" cy="2286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6" name="Text 3"/>
          <p:cNvSpPr/>
          <p:nvPr/>
        </p:nvSpPr>
        <p:spPr>
          <a:xfrm>
            <a:off x="706874" y="1971199"/>
            <a:ext cx="2376130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Load &amp; Explore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06874" y="2370415"/>
            <a:ext cx="7730252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Imported with pandas; used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for structure checks.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06874" y="2990017"/>
            <a:ext cx="40386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06874" y="3310414"/>
            <a:ext cx="7730252" cy="22860"/>
          </a:xfrm>
          <a:prstGeom prst="rect">
            <a:avLst/>
          </a:prstGeom>
          <a:solidFill>
            <a:srgbClr val="018CE1"/>
          </a:solidFill>
          <a:ln/>
        </p:spPr>
      </p:sp>
      <p:sp>
        <p:nvSpPr>
          <p:cNvPr id="10" name="Text 7"/>
          <p:cNvSpPr/>
          <p:nvPr/>
        </p:nvSpPr>
        <p:spPr>
          <a:xfrm>
            <a:off x="706874" y="3457099"/>
            <a:ext cx="2376130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Clean &amp; Standardize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06874" y="3856315"/>
            <a:ext cx="7730252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Imputed missing Review Ratings with category median; renamed columns to snake_case.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06874" y="4475917"/>
            <a:ext cx="40386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06874" y="4796314"/>
            <a:ext cx="7730252" cy="22860"/>
          </a:xfrm>
          <a:prstGeom prst="rect">
            <a:avLst/>
          </a:prstGeom>
          <a:solidFill>
            <a:srgbClr val="DA33BF"/>
          </a:solidFill>
          <a:ln/>
        </p:spPr>
      </p:sp>
      <p:sp>
        <p:nvSpPr>
          <p:cNvPr id="14" name="Text 11"/>
          <p:cNvSpPr/>
          <p:nvPr/>
        </p:nvSpPr>
        <p:spPr>
          <a:xfrm>
            <a:off x="706874" y="4942999"/>
            <a:ext cx="2376130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Feature Engineering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06874" y="5342215"/>
            <a:ext cx="7730252" cy="595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Created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bins and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; dropped redundant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06874" y="6259592"/>
            <a:ext cx="40386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706874" y="6579989"/>
            <a:ext cx="7730252" cy="2286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18" name="Text 15"/>
          <p:cNvSpPr/>
          <p:nvPr/>
        </p:nvSpPr>
        <p:spPr>
          <a:xfrm>
            <a:off x="706874" y="6726674"/>
            <a:ext cx="2376130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Database Integration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706874" y="7125891"/>
            <a:ext cx="7730252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Loaded cleaned DataFrame into PostgreSQL for SQL analysis.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4627" y="872728"/>
            <a:ext cx="8774906" cy="693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Revenue by Gender &amp; Subscription</a:t>
            </a:r>
            <a:endParaRPr lang="en-US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627" y="2174558"/>
            <a:ext cx="6203156" cy="38407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98213" y="3077528"/>
            <a:ext cx="234315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158k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3639305" y="4746308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75.2k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7610237" y="2145625"/>
            <a:ext cx="277213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Findings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7610237" y="2724031"/>
            <a:ext cx="6203156" cy="74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Male customers generated </a:t>
            </a:r>
            <a:pPr algn="l" indent="0" marL="0">
              <a:lnSpc>
                <a:spcPts val="29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$157,890</a:t>
            </a:r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in revenue — more than </a:t>
            </a:r>
            <a:pPr algn="l" indent="0" marL="0">
              <a:lnSpc>
                <a:spcPts val="2900"/>
              </a:lnSpc>
              <a:buNone/>
            </a:pPr>
            <a:r>
              <a:rPr lang="en-US" sz="1850" b="1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2× female customers</a:t>
            </a:r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at $75,191.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610237" y="3680698"/>
            <a:ext cx="6203156" cy="1121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Subscription status shows </a:t>
            </a:r>
            <a:pPr algn="l" indent="0" marL="0">
              <a:lnSpc>
                <a:spcPts val="29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difference in average spend</a:t>
            </a:r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($59 each), though non-subscribers (2,847) vastly outnumber subscribers (1,053).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7610237" y="5063490"/>
            <a:ext cx="6203156" cy="2032516"/>
          </a:xfrm>
          <a:prstGeom prst="roundRect">
            <a:avLst>
              <a:gd name="adj" fmla="val 1739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53482" y="5217795"/>
            <a:ext cx="1071920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Status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404271" y="5217795"/>
            <a:ext cx="1068110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0951250" y="5217795"/>
            <a:ext cx="1068110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Avg Spend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2498229" y="5217795"/>
            <a:ext cx="1071920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Revenue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7853482" y="5892760"/>
            <a:ext cx="1071920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404271" y="5892760"/>
            <a:ext cx="1068110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2,847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10951250" y="5892760"/>
            <a:ext cx="1068110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$59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12498229" y="5892760"/>
            <a:ext cx="1071920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$170,436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7853482" y="6567726"/>
            <a:ext cx="1071920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Yes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9404271" y="6567726"/>
            <a:ext cx="1068110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1,053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10951250" y="6567726"/>
            <a:ext cx="1068110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$59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12498229" y="6567726"/>
            <a:ext cx="1071920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$62,645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2492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Top-Rated Products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657118"/>
            <a:ext cx="6185535" cy="39002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87494" y="3065550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3.86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458148" y="3745254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3.84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6431659" y="4424958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3.82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6453390" y="5104662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3.8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6391568" y="5784366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3.79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7614761" y="2627233"/>
            <a:ext cx="417611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Top 5 by Average Review Rating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14761" y="3218498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Gloves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lead with a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3.86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average rating, followed closely by Sandals (3.84) and Boots (3.82).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614761" y="4199930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Ratings are tightly clustered, suggesting consistently positive customer satisfaction across top products.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7614761" y="5235178"/>
            <a:ext cx="6185535" cy="1400175"/>
          </a:xfrm>
          <a:prstGeom prst="roundRect">
            <a:avLst>
              <a:gd name="adj" fmla="val 25645"/>
            </a:avLst>
          </a:prstGeom>
          <a:solidFill>
            <a:srgbClr val="B6D6F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077" y="5599152"/>
            <a:ext cx="299204" cy="2393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92597" y="5534263"/>
            <a:ext cx="516838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Overall average review rating across all products: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3.75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33475"/>
            <a:ext cx="695229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Discount Usage by Product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465665"/>
            <a:ext cx="6185535" cy="39002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57154" y="2874097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50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647847" y="3553801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49.7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6591315" y="4233505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49.1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6478770" y="4913209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48.2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6394525" y="5592913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47.4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7614761" y="2435781"/>
            <a:ext cx="344936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Top 5 Discounted Products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14761" y="3027045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Hats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top the list with exactly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50%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of purchases using a discount — nearly half of all transactions for these items involve a discount.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614761" y="4391501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All top 5 items hover between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47–50%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indicating widespread discount dependency across key categories.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7614761" y="5426750"/>
            <a:ext cx="6185535" cy="1400175"/>
          </a:xfrm>
          <a:prstGeom prst="roundRect">
            <a:avLst>
              <a:gd name="adj" fmla="val 25645"/>
            </a:avLst>
          </a:prstGeom>
          <a:solidFill>
            <a:srgbClr val="FCF2B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077" y="5790724"/>
            <a:ext cx="299204" cy="2393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92597" y="5725835"/>
            <a:ext cx="516838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 discount rates may signal price sensitivity — review margin impact.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8762" y="1525429"/>
            <a:ext cx="295632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Revenue by Age Group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8762" y="1997035"/>
            <a:ext cx="7772757" cy="39015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25243" y="2317863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62.1k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192143" y="2471895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59.2k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8094226" y="2640200"/>
            <a:ext cx="186452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56k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9925943" y="2651441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55.8k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3428762" y="6416993"/>
            <a:ext cx="7772757" cy="28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Young Adults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are the top revenue contributors at </a:t>
            </a:r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$62,143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but revenue is remarkably balanced across all age groups — a spread of only ~$6,400 from top to bottom.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38426"/>
            <a:ext cx="757297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Revenue &amp; Sales by Category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070616"/>
            <a:ext cx="597932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064" y="2107168"/>
            <a:ext cx="91440" cy="91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2984" y="2093476"/>
            <a:ext cx="36933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2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Revenue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1496616" y="2070616"/>
            <a:ext cx="741164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956" y="2107168"/>
            <a:ext cx="91440" cy="91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71876" y="2093476"/>
            <a:ext cx="51256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2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Sales (units)</a:t>
            </a:r>
            <a:endParaRPr lang="en-US" sz="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311360"/>
            <a:ext cx="6185535" cy="36564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14761" y="204073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Category Breakdown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614761" y="2631996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Clothing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dominates both revenue (~$0.1M) and sales (~2K units), followed by Accessories.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7614761" y="3613428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Outerwear is the smallest category in both revenue and volume — a potential growth opportunity.</a:t>
            </a:r>
            <a:endParaRPr lang="en-US" sz="1850" dirty="0"/>
          </a:p>
        </p:txBody>
      </p:sp>
      <p:sp>
        <p:nvSpPr>
          <p:cNvPr id="13" name="Shape 8"/>
          <p:cNvSpPr/>
          <p:nvPr/>
        </p:nvSpPr>
        <p:spPr>
          <a:xfrm>
            <a:off x="837724" y="6072902"/>
            <a:ext cx="6357818" cy="1418153"/>
          </a:xfrm>
          <a:prstGeom prst="roundRect">
            <a:avLst>
              <a:gd name="adj" fmla="val 25320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107519" y="634269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🥇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Clothing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107519" y="6838236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$0.1M · 2K units</a:t>
            </a:r>
            <a:endParaRPr lang="en-US" sz="1850" dirty="0"/>
          </a:p>
        </p:txBody>
      </p:sp>
      <p:sp>
        <p:nvSpPr>
          <p:cNvPr id="16" name="Shape 11"/>
          <p:cNvSpPr/>
          <p:nvPr/>
        </p:nvSpPr>
        <p:spPr>
          <a:xfrm>
            <a:off x="7434858" y="6072902"/>
            <a:ext cx="6357818" cy="1418153"/>
          </a:xfrm>
          <a:prstGeom prst="roundRect">
            <a:avLst>
              <a:gd name="adj" fmla="val 25320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018CE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704653" y="634269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🥈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Accessories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7704653" y="6838236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$0.08M · 1.5K units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20028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Power BI Dashboard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263271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 interactive dashboard consolidates all insights — filtering by subscription status, gender, category, and shipping type — with KPIs, category breakdowns, and age group analysis at a glance.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552" y="692706"/>
            <a:ext cx="5368409" cy="671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8552" y="1798558"/>
            <a:ext cx="4199453" cy="2938582"/>
          </a:xfrm>
          <a:prstGeom prst="roundRect">
            <a:avLst>
              <a:gd name="adj" fmla="val 11646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9536" y="2049542"/>
            <a:ext cx="684371" cy="684371"/>
          </a:xfrm>
          <a:prstGeom prst="roundRect">
            <a:avLst>
              <a:gd name="adj" fmla="val 13359838"/>
            </a:avLst>
          </a:prstGeom>
          <a:solidFill>
            <a:srgbClr val="2D4DF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7655" y="2237661"/>
            <a:ext cx="308015" cy="3080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9536" y="2951321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Gender Gap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49536" y="3417094"/>
            <a:ext cx="3697486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Male customers drive 2× more revenue than female customers.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5414" y="1798558"/>
            <a:ext cx="4199453" cy="2938582"/>
          </a:xfrm>
          <a:prstGeom prst="roundRect">
            <a:avLst>
              <a:gd name="adj" fmla="val 11646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66398" y="2049542"/>
            <a:ext cx="684371" cy="684371"/>
          </a:xfrm>
          <a:prstGeom prst="roundRect">
            <a:avLst>
              <a:gd name="adj" fmla="val 13359838"/>
            </a:avLst>
          </a:prstGeom>
          <a:solidFill>
            <a:srgbClr val="018CE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4516" y="2237661"/>
            <a:ext cx="308015" cy="3080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66398" y="2951321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Subscription Parity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5466398" y="3417094"/>
            <a:ext cx="3697486" cy="106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Subscribers and non-subscribers spend equally (~$59 avg), but non-subscribers are 73% of the base.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32275" y="1798558"/>
            <a:ext cx="4199453" cy="2938582"/>
          </a:xfrm>
          <a:prstGeom prst="roundRect">
            <a:avLst>
              <a:gd name="adj" fmla="val 11646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83259" y="2049542"/>
            <a:ext cx="684371" cy="684371"/>
          </a:xfrm>
          <a:prstGeom prst="roundRect">
            <a:avLst>
              <a:gd name="adj" fmla="val 13359838"/>
            </a:avLst>
          </a:prstGeom>
          <a:solidFill>
            <a:srgbClr val="DA33B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71378" y="2237661"/>
            <a:ext cx="308015" cy="3080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83259" y="2951321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Clothing Leads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9883259" y="3417094"/>
            <a:ext cx="3697486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Clothing dominates revenue and sales across all categories.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8552" y="4954548"/>
            <a:ext cx="6407825" cy="2582227"/>
          </a:xfrm>
          <a:prstGeom prst="roundRect">
            <a:avLst>
              <a:gd name="adj" fmla="val 13254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49536" y="5205532"/>
            <a:ext cx="684371" cy="684371"/>
          </a:xfrm>
          <a:prstGeom prst="roundRect">
            <a:avLst>
              <a:gd name="adj" fmla="val 13359838"/>
            </a:avLst>
          </a:prstGeom>
          <a:solidFill>
            <a:srgbClr val="2D4DF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7655" y="5393650"/>
            <a:ext cx="308015" cy="30801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49536" y="6107311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Discount Dependency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1049536" y="6573083"/>
            <a:ext cx="5905857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 items see ~47–50% discount rates — margin risk to monitor.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3785" y="4954548"/>
            <a:ext cx="6407944" cy="2582227"/>
          </a:xfrm>
          <a:prstGeom prst="roundRect">
            <a:avLst>
              <a:gd name="adj" fmla="val 13254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74769" y="5205532"/>
            <a:ext cx="684371" cy="684371"/>
          </a:xfrm>
          <a:prstGeom prst="roundRect">
            <a:avLst>
              <a:gd name="adj" fmla="val 13359838"/>
            </a:avLst>
          </a:prstGeom>
          <a:solidFill>
            <a:srgbClr val="018CE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62888" y="5393650"/>
            <a:ext cx="308015" cy="30801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74769" y="6107311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Balanced Age Spend</a:t>
            </a:r>
            <a:endParaRPr lang="en-US" sz="2100" dirty="0"/>
          </a:p>
        </p:txBody>
      </p:sp>
      <p:sp>
        <p:nvSpPr>
          <p:cNvPr id="27" name="Text 20"/>
          <p:cNvSpPr/>
          <p:nvPr/>
        </p:nvSpPr>
        <p:spPr>
          <a:xfrm>
            <a:off x="7674769" y="6573083"/>
            <a:ext cx="5905976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Young Adults lead revenue, but all age groups contribute nearly equally.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2026-04-23T01:45:02Z</dcterms:created>
  <dcterms:modified xsi:type="dcterms:W3CDTF">2026-04-23T01:45:02Z</dcterms:modified>
</cp:coreProperties>
</file>